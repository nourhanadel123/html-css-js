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6" r:id="rId6"/>
    <p:sldId id="277" r:id="rId7"/>
    <p:sldId id="278" r:id="rId8"/>
    <p:sldId id="279" r:id="rId9"/>
    <p:sldId id="280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9" r:id="rId21"/>
    <p:sldId id="300" r:id="rId22"/>
    <p:sldId id="29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52" autoAdjust="0"/>
  </p:normalViewPr>
  <p:slideViewPr>
    <p:cSldViewPr snapToGrid="0" showGuides="1">
      <p:cViewPr varScale="1">
        <p:scale>
          <a:sx n="94" d="100"/>
          <a:sy n="94" d="100"/>
        </p:scale>
        <p:origin x="226" y="86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69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40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346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937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315393"/>
            <a:ext cx="9144000" cy="830997"/>
          </a:xfrm>
        </p:spPr>
        <p:txBody>
          <a:bodyPr lIns="0" tIns="0" rIns="0" bIns="0" anchor="t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Welcome To </a:t>
            </a: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css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xmlns="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xmlns="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xmlns="" id="{B95DF07A-CE7E-4D89-9AA0-25F4FFF3B9C7}"/>
              </a:ext>
            </a:extLst>
          </p:cNvPr>
          <p:cNvGrpSpPr/>
          <p:nvPr/>
        </p:nvGrpSpPr>
        <p:grpSpPr>
          <a:xfrm>
            <a:off x="9610221" y="3484551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xmlns="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xmlns="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xmlns="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1242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Css Definition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09600" y="987611"/>
            <a:ext cx="576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Css</a:t>
            </a:r>
            <a:r>
              <a:rPr lang="en-US" dirty="0" smtClean="0"/>
              <a:t>:-  </a:t>
            </a:r>
            <a:r>
              <a:rPr lang="en-US" sz="2000" dirty="0" smtClean="0"/>
              <a:t>stands </a:t>
            </a:r>
            <a:r>
              <a:rPr lang="en-US" sz="2000" dirty="0"/>
              <a:t>for </a:t>
            </a:r>
            <a:r>
              <a:rPr lang="en-US" sz="2000" b="1" dirty="0">
                <a:solidFill>
                  <a:srgbClr val="FF0000"/>
                </a:solidFill>
              </a:rPr>
              <a:t>Cascading Style Sheets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567076"/>
            <a:ext cx="74148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Why we use css? </a:t>
            </a:r>
          </a:p>
          <a:p>
            <a:endParaRPr lang="en-US" dirty="0" smtClean="0"/>
          </a:p>
          <a:p>
            <a:r>
              <a:rPr lang="en-US" b="1" dirty="0">
                <a:solidFill>
                  <a:schemeClr val="accent5"/>
                </a:solidFill>
              </a:rPr>
              <a:t>CSS is used to define styles for your web pages, including the design, layout and variations in display for different devices and screen sizes</a:t>
            </a:r>
            <a:r>
              <a:rPr lang="en-US" b="1" dirty="0" smtClean="0">
                <a:solidFill>
                  <a:schemeClr val="accent5"/>
                </a:solidFill>
              </a:rPr>
              <a:t>.</a:t>
            </a:r>
          </a:p>
          <a:p>
            <a:endParaRPr lang="en-US" b="1" dirty="0">
              <a:solidFill>
                <a:schemeClr val="accent5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960" y="2917024"/>
            <a:ext cx="4847943" cy="363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xmlns="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76466" y="293243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Css </a:t>
            </a:r>
            <a:r>
              <a:rPr lang="en-US" sz="2800" b="1" dirty="0" smtClean="0">
                <a:solidFill>
                  <a:schemeClr val="accent5"/>
                </a:solidFill>
              </a:rPr>
              <a:t>links with </a:t>
            </a:r>
            <a:r>
              <a:rPr lang="en-US" sz="2800" b="1" dirty="0" smtClean="0">
                <a:solidFill>
                  <a:schemeClr val="bg2">
                    <a:lumMod val="10000"/>
                  </a:schemeClr>
                </a:solidFill>
              </a:rPr>
              <a:t>Html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/>
            </a:r>
            <a:br>
              <a:rPr lang="en-US" sz="2800" dirty="0">
                <a:solidFill>
                  <a:schemeClr val="bg2">
                    <a:lumMod val="10000"/>
                  </a:schemeClr>
                </a:solidFill>
              </a:rPr>
            </a:br>
            <a:endParaRPr 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782" y="755362"/>
            <a:ext cx="4876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Three Ways </a:t>
            </a:r>
            <a:r>
              <a:rPr lang="en-US" sz="2400" b="1" dirty="0">
                <a:solidFill>
                  <a:srgbClr val="0070C0"/>
                </a:solidFill>
              </a:rPr>
              <a:t>to  </a:t>
            </a:r>
            <a:r>
              <a:rPr lang="en-US" sz="2400" b="1" dirty="0" smtClean="0">
                <a:solidFill>
                  <a:srgbClr val="0070C0"/>
                </a:solidFill>
              </a:rPr>
              <a:t>Link CSS with Html :-</a:t>
            </a:r>
            <a:endParaRPr lang="en-US" sz="2400" b="1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7215" y="1007544"/>
            <a:ext cx="8544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smtClean="0">
                <a:solidFill>
                  <a:srgbClr val="002060"/>
                </a:solidFill>
              </a:rPr>
              <a:t>Internal css :- </a:t>
            </a:r>
            <a:r>
              <a:rPr lang="en-US" sz="2400" dirty="0" smtClean="0">
                <a:solidFill>
                  <a:srgbClr val="FF0000"/>
                </a:solidFill>
              </a:rPr>
              <a:t>inside the head tag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smtClean="0">
                <a:solidFill>
                  <a:srgbClr val="002060"/>
                </a:solidFill>
              </a:rPr>
              <a:t>External css :- </a:t>
            </a:r>
            <a:r>
              <a:rPr lang="en-US" sz="2400" dirty="0" smtClean="0">
                <a:solidFill>
                  <a:srgbClr val="FF0000"/>
                </a:solidFill>
              </a:rPr>
              <a:t>an external file  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>
                <a:solidFill>
                  <a:srgbClr val="002060"/>
                </a:solidFill>
              </a:rPr>
              <a:t>i</a:t>
            </a:r>
            <a:r>
              <a:rPr lang="en-US" sz="2400" dirty="0" smtClean="0">
                <a:solidFill>
                  <a:srgbClr val="002060"/>
                </a:solidFill>
              </a:rPr>
              <a:t>nline css     :- </a:t>
            </a:r>
            <a:r>
              <a:rPr lang="en-US" sz="2400" dirty="0" smtClean="0">
                <a:solidFill>
                  <a:srgbClr val="FF0000"/>
                </a:solidFill>
              </a:rPr>
              <a:t>as a property to the element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233" y="2801257"/>
            <a:ext cx="7258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What About If we are using All Styles at the same time?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8564" y="3560775"/>
            <a:ext cx="3850639" cy="28623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Ex:-</a:t>
            </a:r>
          </a:p>
          <a:p>
            <a:r>
              <a:rPr lang="en-US" dirty="0" smtClean="0"/>
              <a:t>&lt;head&gt;</a:t>
            </a:r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 p{</a:t>
            </a:r>
          </a:p>
          <a:p>
            <a:r>
              <a:rPr lang="en-US" b="1" dirty="0" smtClean="0"/>
              <a:t>color</a:t>
            </a:r>
            <a:r>
              <a:rPr lang="en-US" dirty="0" smtClean="0"/>
              <a:t>: green ;</a:t>
            </a:r>
          </a:p>
          <a:p>
            <a:r>
              <a:rPr lang="en-US" dirty="0"/>
              <a:t>}</a:t>
            </a:r>
            <a:endParaRPr lang="en-US" dirty="0" smtClean="0"/>
          </a:p>
          <a:p>
            <a:r>
              <a:rPr lang="en-US" dirty="0" smtClean="0"/>
              <a:t> &lt;/style&gt;</a:t>
            </a:r>
          </a:p>
          <a:p>
            <a:endParaRPr lang="en-US" dirty="0"/>
          </a:p>
          <a:p>
            <a:r>
              <a:rPr lang="en-US" dirty="0" smtClean="0"/>
              <a:t>  &lt;/head&gt;</a:t>
            </a:r>
          </a:p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159461" y="3535273"/>
            <a:ext cx="3794613" cy="28623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Ex:-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&lt;head&gt; 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endParaRPr lang="en-US" dirty="0" smtClean="0"/>
          </a:p>
          <a:p>
            <a:r>
              <a:rPr lang="en-US" dirty="0" smtClean="0"/>
              <a:t>&lt;p style=“color : red;”&gt;My Name &lt;/p&gt;</a:t>
            </a:r>
            <a:endParaRPr lang="en-US" dirty="0"/>
          </a:p>
          <a:p>
            <a:r>
              <a:rPr lang="en-US" dirty="0" smtClean="0"/>
              <a:t>&lt;/body&gt;</a:t>
            </a:r>
            <a:endParaRPr lang="en-US" dirty="0"/>
          </a:p>
          <a:p>
            <a:r>
              <a:rPr lang="en-US" dirty="0" smtClean="0"/>
              <a:t> &lt;/html&gt;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8223567" y="3653603"/>
            <a:ext cx="3850639" cy="230832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Ex:-(style.css)</a:t>
            </a:r>
          </a:p>
          <a:p>
            <a:endParaRPr lang="en-US" dirty="0" smtClean="0"/>
          </a:p>
          <a:p>
            <a:r>
              <a:rPr lang="en-US" dirty="0" smtClean="0"/>
              <a:t>P{</a:t>
            </a:r>
          </a:p>
          <a:p>
            <a:endParaRPr lang="en-US" dirty="0"/>
          </a:p>
          <a:p>
            <a:r>
              <a:rPr lang="en-US" dirty="0" smtClean="0"/>
              <a:t>Color : blue;</a:t>
            </a:r>
          </a:p>
          <a:p>
            <a:endParaRPr lang="en-US" dirty="0" smtClean="0"/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xmlns="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4147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Arrangement of code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xmlns="" id="{6BEBF752-C33D-4EC4-8210-F7B1D3A10097}"/>
              </a:ext>
            </a:extLst>
          </p:cNvPr>
          <p:cNvSpPr/>
          <p:nvPr/>
        </p:nvSpPr>
        <p:spPr>
          <a:xfrm>
            <a:off x="1831182" y="2333832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Management Objectives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xmlns="" id="{C7CFAFBF-6B2A-49A8-ADCE-FD94A08C87B3}"/>
              </a:ext>
            </a:extLst>
          </p:cNvPr>
          <p:cNvSpPr/>
          <p:nvPr/>
        </p:nvSpPr>
        <p:spPr>
          <a:xfrm>
            <a:off x="8989218" y="1778472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Tasks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6680" y="1111431"/>
            <a:ext cx="5791200" cy="212365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Comment in Html </a:t>
            </a:r>
            <a:r>
              <a:rPr lang="en-US" dirty="0" smtClean="0"/>
              <a:t>:-</a:t>
            </a:r>
          </a:p>
          <a:p>
            <a:endParaRPr lang="en-US" dirty="0" smtClean="0"/>
          </a:p>
          <a:p>
            <a:r>
              <a:rPr lang="en-US" dirty="0" smtClean="0"/>
              <a:t>      </a:t>
            </a:r>
            <a:r>
              <a:rPr lang="en-US" dirty="0" smtClean="0">
                <a:solidFill>
                  <a:srgbClr val="00B050"/>
                </a:solidFill>
              </a:rPr>
              <a:t>&lt;!-- </a:t>
            </a:r>
            <a:r>
              <a:rPr lang="en-US" dirty="0">
                <a:solidFill>
                  <a:srgbClr val="00B050"/>
                </a:solidFill>
              </a:rPr>
              <a:t>This is a comment </a:t>
            </a:r>
            <a:r>
              <a:rPr lang="en-US" dirty="0" smtClean="0">
                <a:solidFill>
                  <a:srgbClr val="00B050"/>
                </a:solidFill>
              </a:rPr>
              <a:t>--&gt;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You can do it 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Or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You can select the element that you are want to make it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A comment and then click </a:t>
            </a:r>
            <a:r>
              <a:rPr lang="en-US" b="1" dirty="0" smtClean="0">
                <a:solidFill>
                  <a:srgbClr val="00B050"/>
                </a:solidFill>
              </a:rPr>
              <a:t>ctrl /</a:t>
            </a:r>
            <a:r>
              <a:rPr lang="en-US" b="1" dirty="0" smtClean="0">
                <a:solidFill>
                  <a:schemeClr val="bg1"/>
                </a:solidFill>
              </a:rPr>
              <a:t>  it will be a comment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72200" y="1111431"/>
            <a:ext cx="5791200" cy="212365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/>
              <a:t>Comment in css </a:t>
            </a:r>
            <a:r>
              <a:rPr lang="en-US" dirty="0" smtClean="0"/>
              <a:t>:-</a:t>
            </a:r>
          </a:p>
          <a:p>
            <a:endParaRPr lang="en-US" dirty="0" smtClean="0"/>
          </a:p>
          <a:p>
            <a:r>
              <a:rPr lang="en-US" dirty="0" smtClean="0"/>
              <a:t>      </a:t>
            </a:r>
            <a:r>
              <a:rPr lang="en-US" dirty="0" smtClean="0">
                <a:solidFill>
                  <a:srgbClr val="00B050"/>
                </a:solidFill>
              </a:rPr>
              <a:t>/* </a:t>
            </a:r>
            <a:r>
              <a:rPr lang="en-US" dirty="0">
                <a:solidFill>
                  <a:srgbClr val="00B050"/>
                </a:solidFill>
              </a:rPr>
              <a:t>This is a comment </a:t>
            </a:r>
            <a:r>
              <a:rPr lang="en-US" dirty="0" smtClean="0">
                <a:solidFill>
                  <a:srgbClr val="00B050"/>
                </a:solidFill>
              </a:rPr>
              <a:t>*/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You can do it 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Or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You can select the element that you are want to make it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A comment and then click </a:t>
            </a:r>
            <a:r>
              <a:rPr lang="en-US" b="1" dirty="0" smtClean="0">
                <a:solidFill>
                  <a:srgbClr val="00B050"/>
                </a:solidFill>
              </a:rPr>
              <a:t>ctrl /</a:t>
            </a:r>
            <a:r>
              <a:rPr lang="en-US" b="1" dirty="0" smtClean="0">
                <a:solidFill>
                  <a:schemeClr val="bg1"/>
                </a:solidFill>
              </a:rPr>
              <a:t>  it will be a comment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694" y="3491731"/>
            <a:ext cx="242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Question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3702" y="4343216"/>
            <a:ext cx="6827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Why we are using Comments?</a:t>
            </a:r>
          </a:p>
          <a:p>
            <a:endParaRPr lang="en-US" sz="2400" b="1" dirty="0"/>
          </a:p>
          <a:p>
            <a:r>
              <a:rPr lang="en-US" sz="2400" b="1" dirty="0" smtClean="0"/>
              <a:t>Comment are visible during view  the results?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xmlns="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16840" y="2921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Css colors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23850" y="1053665"/>
            <a:ext cx="3647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rgb</a:t>
            </a:r>
          </a:p>
          <a:p>
            <a:r>
              <a:rPr lang="en-US" sz="2400" b="1" dirty="0" smtClean="0"/>
              <a:t>       (red,green,blue)</a:t>
            </a:r>
          </a:p>
          <a:p>
            <a:endParaRPr lang="en-US" sz="2400" b="1" dirty="0" smtClean="0"/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(255,  0    ,0)</a:t>
            </a:r>
          </a:p>
          <a:p>
            <a:endParaRPr lang="en-US" sz="2400" b="1" dirty="0"/>
          </a:p>
          <a:p>
            <a:endParaRPr lang="en-US" sz="2400" b="1" dirty="0" smtClean="0"/>
          </a:p>
          <a:p>
            <a:r>
              <a:rPr lang="en-US" sz="2400" b="1" dirty="0" smtClean="0"/>
              <a:t>               rgba</a:t>
            </a:r>
          </a:p>
          <a:p>
            <a:r>
              <a:rPr lang="en-US" sz="2400" b="1" dirty="0" smtClean="0"/>
              <a:t> (</a:t>
            </a:r>
            <a:r>
              <a:rPr lang="en-US" sz="2400" b="1" i="1" dirty="0"/>
              <a:t>red,</a:t>
            </a:r>
            <a:r>
              <a:rPr lang="en-US" sz="2400" b="1" dirty="0"/>
              <a:t> </a:t>
            </a:r>
            <a:r>
              <a:rPr lang="en-US" sz="2400" b="1" i="1" dirty="0"/>
              <a:t>green</a:t>
            </a:r>
            <a:r>
              <a:rPr lang="en-US" sz="2400" b="1" dirty="0"/>
              <a:t>, </a:t>
            </a:r>
            <a:r>
              <a:rPr lang="en-US" sz="2400" b="1" i="1" dirty="0"/>
              <a:t>blue, alpha</a:t>
            </a:r>
            <a:r>
              <a:rPr lang="en-US" sz="2400" b="1" dirty="0" smtClean="0"/>
              <a:t>)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                             </a:t>
            </a:r>
            <a:r>
              <a:rPr lang="ar-EG" sz="2400" b="1" dirty="0"/>
              <a:t>الشفافيه</a:t>
            </a:r>
            <a:endParaRPr lang="en-US" sz="2400" b="1" dirty="0"/>
          </a:p>
          <a:p>
            <a:r>
              <a:rPr lang="en-US" sz="2400" b="1" dirty="0" smtClean="0"/>
              <a:t> (255 ,   0  ,    0       , 0.5)</a:t>
            </a:r>
          </a:p>
          <a:p>
            <a:endParaRPr lang="en-US" sz="2400" b="1" dirty="0"/>
          </a:p>
          <a:p>
            <a:r>
              <a:rPr lang="en-US" sz="2400" b="1" dirty="0" smtClean="0"/>
              <a:t>Value of Alpha from </a:t>
            </a:r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r>
              <a:rPr lang="en-US" sz="2400" b="1" dirty="0" smtClean="0"/>
              <a:t> to </a:t>
            </a:r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46040" y="1109263"/>
            <a:ext cx="196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Hex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890000" y="1053665"/>
            <a:ext cx="196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HSL</a:t>
            </a:r>
            <a:endParaRPr lang="en-US" sz="2400" b="1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318260" y="1841799"/>
            <a:ext cx="10160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937385" y="1847626"/>
            <a:ext cx="10160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540000" y="1841799"/>
            <a:ext cx="10160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190240" y="4061502"/>
            <a:ext cx="0" cy="3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58334" y="1660845"/>
            <a:ext cx="39446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hexadecimal</a:t>
            </a:r>
            <a:r>
              <a:rPr lang="en-US" dirty="0"/>
              <a:t> </a:t>
            </a:r>
            <a:r>
              <a:rPr lang="en-US" b="1" dirty="0"/>
              <a:t>color </a:t>
            </a:r>
            <a:r>
              <a:rPr lang="en-US" dirty="0"/>
              <a:t>is specified with: #</a:t>
            </a:r>
            <a:r>
              <a:rPr lang="en-US" dirty="0" smtClean="0"/>
              <a:t>RRGGBB</a:t>
            </a:r>
          </a:p>
          <a:p>
            <a:endParaRPr lang="en-US" dirty="0" smtClean="0"/>
          </a:p>
          <a:p>
            <a:r>
              <a:rPr lang="en-US" b="1" dirty="0"/>
              <a:t>RR (red), GG (green) </a:t>
            </a:r>
            <a:r>
              <a:rPr lang="en-US" dirty="0"/>
              <a:t>and </a:t>
            </a:r>
            <a:r>
              <a:rPr lang="en-US" b="1" dirty="0"/>
              <a:t>BB (blue</a:t>
            </a:r>
            <a:r>
              <a:rPr lang="en-US" b="1" dirty="0" smtClean="0"/>
              <a:t>)</a:t>
            </a:r>
          </a:p>
          <a:p>
            <a:r>
              <a:rPr lang="en-US" b="1" dirty="0"/>
              <a:t>hexadecimal values between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00</a:t>
            </a:r>
            <a:r>
              <a:rPr lang="en-US" dirty="0"/>
              <a:t> and </a:t>
            </a:r>
            <a:r>
              <a:rPr lang="en-US" b="1" dirty="0" smtClean="0">
                <a:solidFill>
                  <a:srgbClr val="FF0000"/>
                </a:solidFill>
              </a:rPr>
              <a:t>ff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Ex:-</a:t>
            </a:r>
          </a:p>
          <a:p>
            <a:r>
              <a:rPr lang="en-US" b="1" dirty="0" smtClean="0"/>
              <a:t>     #000000   </a:t>
            </a:r>
            <a:r>
              <a:rPr lang="en-US" dirty="0" smtClean="0"/>
              <a:t>is a black color ..</a:t>
            </a:r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</a:t>
            </a:r>
            <a:r>
              <a:rPr lang="en-US" b="1" dirty="0"/>
              <a:t>#</a:t>
            </a:r>
            <a:r>
              <a:rPr lang="en-US" b="1" dirty="0" smtClean="0"/>
              <a:t>ffffff        </a:t>
            </a:r>
            <a:r>
              <a:rPr lang="en-US" dirty="0" smtClean="0"/>
              <a:t>is a White color..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We can write 3 digit only</a:t>
            </a:r>
          </a:p>
          <a:p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When?</a:t>
            </a:r>
          </a:p>
          <a:p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:- if the values is similar</a:t>
            </a:r>
          </a:p>
          <a:p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Ex:-</a:t>
            </a:r>
            <a:r>
              <a:rPr lang="en-US" b="1" dirty="0"/>
              <a:t>#</a:t>
            </a:r>
            <a:r>
              <a:rPr lang="en-US" b="1" dirty="0" smtClean="0"/>
              <a:t>ff00cc            #f0c..</a:t>
            </a:r>
          </a:p>
          <a:p>
            <a:r>
              <a:rPr lang="en-US" b="1" dirty="0" smtClean="0"/>
              <a:t>EX2:-#000000            #000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689600" y="4843144"/>
            <a:ext cx="589280" cy="1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984240" y="5115583"/>
            <a:ext cx="589280" cy="1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02955" y="1753178"/>
            <a:ext cx="37077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HSL</a:t>
            </a:r>
            <a:endParaRPr lang="ar-EG" b="1" dirty="0" smtClean="0"/>
          </a:p>
          <a:p>
            <a:endParaRPr lang="en-US" b="1" dirty="0" smtClean="0"/>
          </a:p>
          <a:p>
            <a:r>
              <a:rPr lang="en-US" b="1" dirty="0" smtClean="0"/>
              <a:t>(hue</a:t>
            </a:r>
            <a:r>
              <a:rPr lang="en-US" b="1" dirty="0"/>
              <a:t>, saturation, and </a:t>
            </a:r>
            <a:r>
              <a:rPr lang="en-US" b="1" dirty="0" smtClean="0"/>
              <a:t>lightness)</a:t>
            </a:r>
            <a:endParaRPr lang="ar-EG" b="1" dirty="0" smtClean="0"/>
          </a:p>
          <a:p>
            <a:endParaRPr lang="en-US" b="1" dirty="0" smtClean="0"/>
          </a:p>
          <a:p>
            <a:r>
              <a:rPr lang="en-US" b="1" dirty="0" smtClean="0"/>
              <a:t>Hue            </a:t>
            </a:r>
            <a:r>
              <a:rPr lang="ar-EG" b="1" dirty="0" smtClean="0"/>
              <a:t>درجة اللون</a:t>
            </a:r>
          </a:p>
          <a:p>
            <a:r>
              <a:rPr lang="en-US" b="1" dirty="0" smtClean="0"/>
              <a:t>Saturation          </a:t>
            </a:r>
            <a:r>
              <a:rPr lang="ar-EG" b="1" dirty="0"/>
              <a:t>تشبع /تركيز اللون</a:t>
            </a:r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Lightness            </a:t>
            </a:r>
            <a:r>
              <a:rPr lang="ar-EG" b="1" dirty="0" smtClean="0"/>
              <a:t>بريق / لمعان اللون</a:t>
            </a:r>
            <a:endParaRPr lang="en-US" b="1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9519920" y="389128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9032240" y="306832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19920" y="332232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xmlns="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27000" y="2921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Css background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1520" y="1188720"/>
            <a:ext cx="9347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Background-color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FF0000"/>
                </a:solidFill>
              </a:rPr>
              <a:t>Any type of color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Ex : background-color: red or #FFF 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Background-image: </a:t>
            </a:r>
            <a:r>
              <a:rPr lang="en-US" b="1" dirty="0" smtClean="0">
                <a:solidFill>
                  <a:srgbClr val="FF0000"/>
                </a:solidFill>
              </a:rPr>
              <a:t>url(‘Path of image’)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Ex: background-image: url(‘D/pictures/esmael.jpg’)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  background-repeat:</a:t>
            </a:r>
            <a:r>
              <a:rPr lang="en-US" dirty="0"/>
              <a:t> </a:t>
            </a:r>
            <a:r>
              <a:rPr lang="en-US" dirty="0" smtClean="0">
                <a:solidFill>
                  <a:srgbClr val="FF0000"/>
                </a:solidFill>
              </a:rPr>
              <a:t>repeat</a:t>
            </a:r>
            <a:r>
              <a:rPr lang="en-US" dirty="0" smtClean="0"/>
              <a:t>  image repeated in x and y;</a:t>
            </a:r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                          : repeat –x repeated in x direction only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                           :</a:t>
            </a:r>
            <a:r>
              <a:rPr lang="en-US" b="1" dirty="0">
                <a:solidFill>
                  <a:srgbClr val="FF0000"/>
                </a:solidFill>
              </a:rPr>
              <a:t> repeat </a:t>
            </a:r>
            <a:r>
              <a:rPr lang="en-US" b="1" dirty="0" smtClean="0">
                <a:solidFill>
                  <a:srgbClr val="FF0000"/>
                </a:solidFill>
              </a:rPr>
              <a:t>–y </a:t>
            </a:r>
            <a:r>
              <a:rPr lang="en-US" b="1" dirty="0">
                <a:solidFill>
                  <a:srgbClr val="FF0000"/>
                </a:solidFill>
              </a:rPr>
              <a:t>repeated in </a:t>
            </a:r>
            <a:r>
              <a:rPr lang="en-US" b="1" dirty="0" smtClean="0">
                <a:solidFill>
                  <a:srgbClr val="FF0000"/>
                </a:solidFill>
              </a:rPr>
              <a:t>y </a:t>
            </a:r>
            <a:r>
              <a:rPr lang="en-US" b="1" dirty="0">
                <a:solidFill>
                  <a:srgbClr val="FF0000"/>
                </a:solidFill>
              </a:rPr>
              <a:t>direction only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                               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no-repeat</a:t>
            </a:r>
            <a:r>
              <a:rPr lang="en-US" b="1" dirty="0" smtClean="0">
                <a:solidFill>
                  <a:srgbClr val="FF0000"/>
                </a:solidFill>
              </a:rPr>
              <a:t>;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Background-position:</a:t>
            </a:r>
            <a:r>
              <a:rPr lang="en-US" b="1" dirty="0" smtClean="0">
                <a:solidFill>
                  <a:srgbClr val="FF0000"/>
                </a:solidFill>
              </a:rPr>
              <a:t> refers to the position of background.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background-attachment: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specifies whether the background image should scroll or be </a:t>
            </a:r>
            <a:r>
              <a:rPr lang="en-US" b="1" dirty="0" smtClean="0">
                <a:solidFill>
                  <a:srgbClr val="FF0000"/>
                </a:solidFill>
              </a:rPr>
              <a:t>fixed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Background-shorthand: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background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b="1" dirty="0">
                <a:solidFill>
                  <a:srgbClr val="FF0000"/>
                </a:solidFill>
              </a:rPr>
              <a:t> #ffffff url("img_tree.png") no-repeat right top;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6075680"/>
            <a:ext cx="391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Note:-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By default the image is repeated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xmlns="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0" y="3429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Css borders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80720" y="1298495"/>
            <a:ext cx="108305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The CSS border properties allow you to specify the style, width, and color of an element's border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/>
              <a:t>border-style </a:t>
            </a:r>
            <a:r>
              <a:rPr lang="en-US" b="1" dirty="0"/>
              <a:t>property specifies what kind of border to display</a:t>
            </a:r>
            <a:r>
              <a:rPr lang="en-US" b="1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/>
              <a:t>Border-types:- dotted , dashed , solid ,double.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/>
              <a:t> border-width: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specifies the width of the four borders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/>
              <a:t>Border width can take four values : 5px 10px    20px     30px 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/>
              <a:t>                                                   :Top   right  bottom   left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What About  border-width: 5px 20px ?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/>
              <a:t>Border-color: </a:t>
            </a:r>
            <a:r>
              <a:rPr lang="en-US" b="1" dirty="0">
                <a:solidFill>
                  <a:srgbClr val="FF0000"/>
                </a:solidFill>
              </a:rPr>
              <a:t>is used to set the color of the four borders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</a:rPr>
              <a:t>Border 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</a:rPr>
              <a:t>–</a:t>
            </a:r>
            <a:r>
              <a:rPr lang="en-US" b="1" dirty="0" smtClean="0"/>
              <a:t>Shorthand property  </a:t>
            </a:r>
            <a:r>
              <a:rPr lang="en-US" b="1" dirty="0" smtClean="0">
                <a:solidFill>
                  <a:srgbClr val="FF0000"/>
                </a:solidFill>
              </a:rPr>
              <a:t>border: 5px solid red;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</a:rPr>
              <a:t>Rounded-border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</a:rPr>
              <a:t>:  </a:t>
            </a:r>
            <a:r>
              <a:rPr lang="en-US" b="1" dirty="0" smtClean="0">
                <a:solidFill>
                  <a:srgbClr val="FF0000"/>
                </a:solidFill>
              </a:rPr>
              <a:t>(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border-radius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653280" y="2956560"/>
            <a:ext cx="1016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110480" y="3027680"/>
            <a:ext cx="1016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836920" y="2956560"/>
            <a:ext cx="1016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543040" y="2956560"/>
            <a:ext cx="1016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936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xmlns="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178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Padding vs margin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95680" y="1078783"/>
            <a:ext cx="956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Padding</a:t>
            </a:r>
            <a:r>
              <a:rPr lang="en-US" dirty="0" smtClean="0"/>
              <a:t> :-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create space around an element's </a:t>
            </a:r>
            <a:r>
              <a:rPr lang="en-US" b="1" dirty="0" smtClean="0">
                <a:solidFill>
                  <a:srgbClr val="0070C0"/>
                </a:solidFill>
              </a:rPr>
              <a:t>content                  </a:t>
            </a:r>
            <a:r>
              <a:rPr lang="ar-EG" b="1" dirty="0" smtClean="0">
                <a:solidFill>
                  <a:srgbClr val="0070C0"/>
                </a:solidFill>
              </a:rPr>
              <a:t>هامش داخلي        </a:t>
            </a:r>
            <a:r>
              <a:rPr lang="en-US" b="1" dirty="0" smtClean="0">
                <a:solidFill>
                  <a:srgbClr val="0070C0"/>
                </a:solidFill>
              </a:rPr>
              <a:t> 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6480" y="1666240"/>
            <a:ext cx="9458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padding Take four direction: top right bottom left</a:t>
            </a:r>
          </a:p>
          <a:p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Ex: padding:10px 20px 30px 40px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Margin:- </a:t>
            </a:r>
            <a:r>
              <a:rPr lang="en-US" b="1" dirty="0" smtClean="0">
                <a:solidFill>
                  <a:srgbClr val="0070C0"/>
                </a:solidFill>
              </a:rPr>
              <a:t>create </a:t>
            </a:r>
            <a:r>
              <a:rPr lang="en-US" b="1" dirty="0">
                <a:solidFill>
                  <a:srgbClr val="0070C0"/>
                </a:solidFill>
              </a:rPr>
              <a:t>space around elements, outside of any defined </a:t>
            </a:r>
            <a:r>
              <a:rPr lang="en-US" b="1" dirty="0" smtClean="0">
                <a:solidFill>
                  <a:srgbClr val="0070C0"/>
                </a:solidFill>
              </a:rPr>
              <a:t>borders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Same As padding Take four directions</a:t>
            </a:r>
            <a:r>
              <a:rPr lang="en-US" dirty="0" smtClean="0"/>
              <a:t>.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6479" y="3789680"/>
            <a:ext cx="70592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Note: </a:t>
            </a:r>
            <a:r>
              <a:rPr lang="en-US" dirty="0" smtClean="0"/>
              <a:t>both </a:t>
            </a:r>
            <a:r>
              <a:rPr lang="en-US" b="1" dirty="0" smtClean="0"/>
              <a:t>Padding</a:t>
            </a:r>
            <a:r>
              <a:rPr lang="en-US" dirty="0" smtClean="0"/>
              <a:t> And </a:t>
            </a:r>
            <a:r>
              <a:rPr lang="en-US" b="1" dirty="0" smtClean="0"/>
              <a:t>margin</a:t>
            </a:r>
            <a:r>
              <a:rPr lang="en-US" dirty="0" smtClean="0"/>
              <a:t> can take negative values</a:t>
            </a:r>
          </a:p>
          <a:p>
            <a:endParaRPr lang="en-US" dirty="0"/>
          </a:p>
          <a:p>
            <a:r>
              <a:rPr lang="en-US" sz="2400" b="1" dirty="0" smtClean="0"/>
              <a:t>What About The greatest Value of padding And Margin?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43410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xmlns="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37160" y="33274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Width vs height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35280" y="1108337"/>
            <a:ext cx="1086612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CSS </a:t>
            </a:r>
            <a:r>
              <a:rPr lang="en-US" sz="2000" b="1" dirty="0" smtClean="0">
                <a:solidFill>
                  <a:srgbClr val="FF0000"/>
                </a:solidFill>
              </a:rPr>
              <a:t>height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and </a:t>
            </a:r>
            <a:r>
              <a:rPr lang="en-US" sz="2000" b="1" dirty="0" smtClean="0">
                <a:solidFill>
                  <a:srgbClr val="FF0000"/>
                </a:solidFill>
              </a:rPr>
              <a:t>width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properties are used to set the height and width of an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element</a:t>
            </a:r>
          </a:p>
          <a:p>
            <a:r>
              <a:rPr lang="en-US" dirty="0" smtClean="0"/>
              <a:t>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max-width</a:t>
            </a:r>
            <a:r>
              <a:rPr lang="en-US" b="1" dirty="0" smtClean="0"/>
              <a:t>  </a:t>
            </a:r>
            <a:r>
              <a:rPr lang="en-US" b="1" dirty="0"/>
              <a:t>property is used to set the maximum width of an element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b="1" dirty="0"/>
              <a:t>The </a:t>
            </a:r>
            <a:r>
              <a:rPr lang="en-US" b="1" dirty="0" smtClean="0"/>
              <a:t> height and width </a:t>
            </a:r>
            <a:r>
              <a:rPr lang="en-US" b="1" dirty="0"/>
              <a:t>properties may have the following value</a:t>
            </a:r>
            <a:r>
              <a:rPr lang="en-US" dirty="0"/>
              <a:t>s</a:t>
            </a:r>
            <a:r>
              <a:rPr lang="en-US" dirty="0" smtClean="0"/>
              <a:t>:</a:t>
            </a:r>
          </a:p>
          <a:p>
            <a:endParaRPr lang="en-US" b="1" dirty="0"/>
          </a:p>
          <a:p>
            <a:r>
              <a:rPr lang="en-US" b="1" dirty="0" smtClean="0"/>
              <a:t>Auto</a:t>
            </a:r>
            <a:r>
              <a:rPr lang="en-US" dirty="0" smtClean="0"/>
              <a:t> :- </a:t>
            </a:r>
            <a:r>
              <a:rPr lang="en-US" b="1" dirty="0" smtClean="0">
                <a:solidFill>
                  <a:srgbClr val="FF0000"/>
                </a:solidFill>
              </a:rPr>
              <a:t>this </a:t>
            </a:r>
            <a:r>
              <a:rPr lang="en-US" b="1" dirty="0">
                <a:solidFill>
                  <a:srgbClr val="FF0000"/>
                </a:solidFill>
              </a:rPr>
              <a:t>is default. The browser calculates the height and </a:t>
            </a:r>
            <a:r>
              <a:rPr lang="en-US" b="1" dirty="0" smtClean="0">
                <a:solidFill>
                  <a:srgbClr val="FF0000"/>
                </a:solidFill>
              </a:rPr>
              <a:t>width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%</a:t>
            </a:r>
            <a:r>
              <a:rPr lang="en-US" dirty="0" smtClean="0"/>
              <a:t>      :-  </a:t>
            </a:r>
            <a:r>
              <a:rPr lang="en-US" b="1" dirty="0">
                <a:solidFill>
                  <a:srgbClr val="FF0000"/>
                </a:solidFill>
              </a:rPr>
              <a:t>Defines the height/width in percent of the containing </a:t>
            </a:r>
            <a:r>
              <a:rPr lang="en-US" b="1" dirty="0" smtClean="0">
                <a:solidFill>
                  <a:srgbClr val="FF0000"/>
                </a:solidFill>
              </a:rPr>
              <a:t>block.</a:t>
            </a:r>
          </a:p>
          <a:p>
            <a:endParaRPr lang="en-US" b="1" dirty="0" smtClean="0"/>
          </a:p>
          <a:p>
            <a:r>
              <a:rPr lang="en-US" b="1" dirty="0" smtClean="0"/>
              <a:t>Inherit</a:t>
            </a:r>
            <a:r>
              <a:rPr lang="en-US" dirty="0" smtClean="0"/>
              <a:t>: </a:t>
            </a:r>
            <a:r>
              <a:rPr lang="en-US" b="1" dirty="0">
                <a:solidFill>
                  <a:srgbClr val="FF0000"/>
                </a:solidFill>
              </a:rPr>
              <a:t>The height/width will be inherited from its parent value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912263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xmlns="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72560" y="2824480"/>
            <a:ext cx="441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/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751290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 flipV="1">
            <a:off x="3477986" y="293914"/>
            <a:ext cx="1355271" cy="8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7094765" y="302079"/>
            <a:ext cx="979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59828" y="117413"/>
            <a:ext cx="147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Follow css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24695" y="728639"/>
            <a:ext cx="122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Box model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510" y="1339866"/>
            <a:ext cx="6280372" cy="25708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7101" y="728639"/>
            <a:ext cx="592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 </a:t>
            </a:r>
            <a:r>
              <a:rPr lang="en-US" b="1" dirty="0">
                <a:solidFill>
                  <a:srgbClr val="FF0000"/>
                </a:solidFill>
              </a:rPr>
              <a:t>"box model" is used when talking about design and layout.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7593" y="4065814"/>
            <a:ext cx="3020786" cy="2585323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Ex:- (Html code)</a:t>
            </a:r>
          </a:p>
          <a:p>
            <a:r>
              <a:rPr lang="en-US" dirty="0"/>
              <a:t> </a:t>
            </a:r>
            <a:r>
              <a:rPr lang="en-US" dirty="0" smtClean="0"/>
              <a:t>&lt;div&gt;</a:t>
            </a:r>
          </a:p>
          <a:p>
            <a:r>
              <a:rPr lang="en-US" dirty="0" smtClean="0"/>
              <a:t>&lt;p&gt;</a:t>
            </a:r>
          </a:p>
          <a:p>
            <a:r>
              <a:rPr lang="en-US" dirty="0" smtClean="0"/>
              <a:t>Loerem10</a:t>
            </a:r>
          </a:p>
          <a:p>
            <a:r>
              <a:rPr lang="en-US" dirty="0"/>
              <a:t>Loerem10</a:t>
            </a:r>
          </a:p>
          <a:p>
            <a:r>
              <a:rPr lang="en-US" dirty="0"/>
              <a:t>Loerem10</a:t>
            </a:r>
          </a:p>
          <a:p>
            <a:endParaRPr lang="en-US" dirty="0" smtClean="0"/>
          </a:p>
          <a:p>
            <a:r>
              <a:rPr lang="en-US" dirty="0" smtClean="0"/>
              <a:t> &lt;/p&gt;</a:t>
            </a:r>
            <a:endParaRPr lang="en-US" dirty="0"/>
          </a:p>
          <a:p>
            <a:r>
              <a:rPr lang="en-US" dirty="0" smtClean="0"/>
              <a:t> &lt;/div&gt;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53298" y="4065815"/>
            <a:ext cx="3219451" cy="2585323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Ex:-  (css code)</a:t>
            </a:r>
          </a:p>
          <a:p>
            <a:r>
              <a:rPr lang="en-US" dirty="0"/>
              <a:t> </a:t>
            </a:r>
            <a:r>
              <a:rPr lang="en-US" dirty="0" smtClean="0"/>
              <a:t>div{</a:t>
            </a:r>
          </a:p>
          <a:p>
            <a:r>
              <a:rPr lang="en-US" dirty="0"/>
              <a:t>  margin: auto;</a:t>
            </a:r>
          </a:p>
          <a:p>
            <a:r>
              <a:rPr lang="en-US" dirty="0"/>
              <a:t>    width:300px;</a:t>
            </a:r>
          </a:p>
          <a:p>
            <a:r>
              <a:rPr lang="en-US" dirty="0"/>
              <a:t>    height:200px;</a:t>
            </a:r>
          </a:p>
          <a:p>
            <a:r>
              <a:rPr lang="en-US" dirty="0"/>
              <a:t>    background-color: #EEE;</a:t>
            </a:r>
          </a:p>
          <a:p>
            <a:r>
              <a:rPr lang="en-US" dirty="0"/>
              <a:t>        padding: 10px;</a:t>
            </a:r>
          </a:p>
          <a:p>
            <a:r>
              <a:rPr lang="en-US" dirty="0"/>
              <a:t>      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2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 flipV="1">
            <a:off x="3641272" y="269421"/>
            <a:ext cx="1126671" cy="8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7062107" y="269421"/>
            <a:ext cx="1036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90407" y="81643"/>
            <a:ext cx="18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CSS Text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3964" y="857250"/>
            <a:ext cx="573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2060"/>
                </a:solidFill>
              </a:rPr>
              <a:t>CSS has a lot of properties for formatting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046" y="1226582"/>
            <a:ext cx="51353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Text-Color:-</a:t>
            </a:r>
          </a:p>
          <a:p>
            <a:r>
              <a:rPr lang="en-US" dirty="0" smtClean="0"/>
              <a:t>Include both color And backgroundColor.</a:t>
            </a:r>
          </a:p>
          <a:p>
            <a:r>
              <a:rPr lang="en-US" dirty="0" smtClean="0"/>
              <a:t>Ex:-</a:t>
            </a:r>
          </a:p>
          <a:p>
            <a:r>
              <a:rPr lang="en-US" dirty="0" smtClean="0"/>
              <a:t>H1{</a:t>
            </a:r>
          </a:p>
          <a:p>
            <a:r>
              <a:rPr lang="en-US" b="1" dirty="0" smtClean="0"/>
              <a:t>Background-color</a:t>
            </a:r>
            <a:r>
              <a:rPr lang="en-US" dirty="0" smtClean="0"/>
              <a:t> :</a:t>
            </a:r>
            <a:r>
              <a:rPr lang="en-US" b="1" dirty="0" smtClean="0">
                <a:solidFill>
                  <a:srgbClr val="FF0000"/>
                </a:solidFill>
              </a:rPr>
              <a:t>black</a:t>
            </a:r>
            <a:r>
              <a:rPr lang="en-US" dirty="0" smtClean="0"/>
              <a:t>;</a:t>
            </a:r>
          </a:p>
          <a:p>
            <a:r>
              <a:rPr lang="en-US" dirty="0" smtClean="0"/>
              <a:t>Color:</a:t>
            </a:r>
            <a:r>
              <a:rPr lang="en-US" b="1" dirty="0" smtClean="0">
                <a:solidFill>
                  <a:srgbClr val="FF0000"/>
                </a:solidFill>
              </a:rPr>
              <a:t>#FFF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5991" y="3535135"/>
            <a:ext cx="111605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Text Alignment and Text </a:t>
            </a:r>
            <a:r>
              <a:rPr lang="en-US" b="1" dirty="0" smtClean="0"/>
              <a:t>Direction:-</a:t>
            </a:r>
          </a:p>
          <a:p>
            <a:r>
              <a:rPr lang="en-US" b="1" dirty="0" smtClean="0"/>
              <a:t>text-align</a:t>
            </a:r>
            <a:r>
              <a:rPr lang="en-US" dirty="0" smtClean="0"/>
              <a:t>:- </a:t>
            </a:r>
            <a:r>
              <a:rPr lang="en-US" dirty="0"/>
              <a:t>property is used to set the horizontal alignment of a </a:t>
            </a:r>
            <a:r>
              <a:rPr lang="en-US" dirty="0" smtClean="0"/>
              <a:t>text </a:t>
            </a:r>
            <a:r>
              <a:rPr lang="ar-EG" dirty="0" smtClean="0"/>
              <a:t>يعني تحرك النص في اي اتجاه أفقي (يمين شمال  منتصف)</a:t>
            </a:r>
            <a:endParaRPr lang="en-US" b="1" dirty="0"/>
          </a:p>
          <a:p>
            <a:endParaRPr lang="ar-EG" dirty="0" smtClean="0"/>
          </a:p>
          <a:p>
            <a:r>
              <a:rPr lang="en-US" dirty="0" smtClean="0"/>
              <a:t>Ex:-</a:t>
            </a:r>
          </a:p>
          <a:p>
            <a:r>
              <a:rPr lang="en-US" dirty="0" smtClean="0"/>
              <a:t>H1{</a:t>
            </a:r>
          </a:p>
          <a:p>
            <a:r>
              <a:rPr lang="en-US" b="1" dirty="0" smtClean="0"/>
              <a:t>Text-align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FF0000"/>
                </a:solidFill>
              </a:rPr>
              <a:t>left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FF0000"/>
                </a:solidFill>
              </a:rPr>
              <a:t>center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FF0000"/>
                </a:solidFill>
              </a:rPr>
              <a:t>right</a:t>
            </a:r>
            <a:r>
              <a:rPr lang="en-US" dirty="0" smtClean="0"/>
              <a:t>..</a:t>
            </a:r>
          </a:p>
          <a:p>
            <a:r>
              <a:rPr lang="en-US" dirty="0" smtClean="0"/>
              <a:t>What About    </a:t>
            </a:r>
            <a:r>
              <a:rPr lang="en-US" b="1" dirty="0" smtClean="0"/>
              <a:t>text-align</a:t>
            </a:r>
            <a:r>
              <a:rPr lang="en-US" dirty="0" smtClean="0"/>
              <a:t>: justify</a:t>
            </a:r>
          </a:p>
          <a:p>
            <a:r>
              <a:rPr lang="en-US" b="1" dirty="0"/>
              <a:t>each line is stretched so that every line has equal width, and the left and right margins are straight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9425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>
            <a:off x="3804557" y="277586"/>
            <a:ext cx="99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6400800" y="277586"/>
            <a:ext cx="11674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800600" y="92920"/>
            <a:ext cx="151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Css Text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45078" y="826532"/>
            <a:ext cx="59191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Text-direction:-</a:t>
            </a:r>
          </a:p>
          <a:p>
            <a:endParaRPr lang="en-US" b="1" dirty="0" smtClean="0"/>
          </a:p>
          <a:p>
            <a:r>
              <a:rPr lang="en-US" b="1" dirty="0" smtClean="0"/>
              <a:t>Ex:-</a:t>
            </a:r>
          </a:p>
          <a:p>
            <a:r>
              <a:rPr lang="en-US" b="1" dirty="0" smtClean="0"/>
              <a:t>P{</a:t>
            </a:r>
          </a:p>
          <a:p>
            <a:r>
              <a:rPr lang="en-US" b="1" dirty="0" smtClean="0"/>
              <a:t>Direction: rtl </a:t>
            </a:r>
            <a:endParaRPr lang="en-US" b="1" dirty="0"/>
          </a:p>
          <a:p>
            <a:r>
              <a:rPr lang="en-US" b="1" dirty="0" smtClean="0"/>
              <a:t>}</a:t>
            </a:r>
            <a:endParaRPr lang="en-US" b="1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808514" y="2177143"/>
            <a:ext cx="99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84146" y="199247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Right To left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070020" y="1992477"/>
            <a:ext cx="3396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 </a:t>
            </a:r>
            <a:r>
              <a:rPr lang="en-US" dirty="0" err="1" smtClean="0"/>
              <a:t>Ltr</a:t>
            </a:r>
            <a:r>
              <a:rPr lang="en-US" dirty="0" smtClean="0"/>
              <a:t>  left to right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53442" y="2686050"/>
            <a:ext cx="531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What is the difference between Align And Direction?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008288" y="3129803"/>
            <a:ext cx="10160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P{</a:t>
            </a:r>
          </a:p>
          <a:p>
            <a:r>
              <a:rPr lang="en-US" b="1" dirty="0" smtClean="0"/>
              <a:t>Text-align</a:t>
            </a:r>
            <a:r>
              <a:rPr lang="en-US" dirty="0" smtClean="0"/>
              <a:t>:</a:t>
            </a:r>
            <a:r>
              <a:rPr lang="ar-EG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center </a:t>
            </a:r>
            <a:r>
              <a:rPr lang="en-US" dirty="0" smtClean="0"/>
              <a:t> </a:t>
            </a:r>
            <a:r>
              <a:rPr lang="ar-EG" dirty="0" smtClean="0"/>
              <a:t>             الكلام كله يجي في المنتصف (بالاتجاه بتاعه)       </a:t>
            </a:r>
            <a:r>
              <a:rPr lang="en-US" dirty="0" smtClean="0"/>
              <a:t>           </a:t>
            </a:r>
            <a:r>
              <a:rPr lang="ar-EG" dirty="0" smtClean="0"/>
              <a:t>                           </a:t>
            </a:r>
            <a:endParaRPr lang="en-US" dirty="0" smtClean="0"/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42974" y="4237264"/>
            <a:ext cx="98828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But</a:t>
            </a:r>
            <a:endParaRPr lang="ar-EG" sz="2000" b="1" dirty="0" smtClean="0"/>
          </a:p>
          <a:p>
            <a:endParaRPr lang="en-US" sz="2000" b="1" dirty="0" smtClean="0"/>
          </a:p>
          <a:p>
            <a:r>
              <a:rPr lang="en-US" sz="2000" b="1" dirty="0" smtClean="0"/>
              <a:t>P{</a:t>
            </a:r>
          </a:p>
          <a:p>
            <a:r>
              <a:rPr lang="en-US" sz="2000" b="1" dirty="0" smtClean="0"/>
              <a:t>Direction: left                                   </a:t>
            </a:r>
            <a:r>
              <a:rPr lang="ar-EG" sz="2000" b="1" dirty="0" smtClean="0"/>
              <a:t>هنا اتجاه النص فقط اللي هيتغير(النص مش هيتحرك)</a:t>
            </a:r>
            <a:endParaRPr lang="en-US" sz="2000" b="1" dirty="0"/>
          </a:p>
          <a:p>
            <a:r>
              <a:rPr lang="en-US" sz="2000" b="1" dirty="0" smtClean="0"/>
              <a:t>}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928777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8649" y="702130"/>
            <a:ext cx="3404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Text </a:t>
            </a:r>
            <a:r>
              <a:rPr lang="en-US" sz="2000" b="1" dirty="0" smtClean="0"/>
              <a:t>Decoration</a:t>
            </a:r>
            <a:r>
              <a:rPr lang="ar-EG" sz="2000" b="1" dirty="0" smtClean="0"/>
              <a:t>-:</a:t>
            </a:r>
            <a:endParaRPr lang="en-US" sz="2000" b="1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731079" y="359229"/>
            <a:ext cx="922564" cy="1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6262006" y="375558"/>
            <a:ext cx="1134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47507" y="190892"/>
            <a:ext cx="160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Css Text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551338" y="766214"/>
            <a:ext cx="344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Underline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None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7878" y="1618535"/>
            <a:ext cx="99359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Text Transformation:- </a:t>
            </a:r>
            <a:r>
              <a:rPr lang="en-US" dirty="0" smtClean="0"/>
              <a:t>property </a:t>
            </a:r>
            <a:r>
              <a:rPr lang="en-US" dirty="0"/>
              <a:t>is used to specify uppercase and lowercase letters in a text</a:t>
            </a:r>
            <a:r>
              <a:rPr lang="en-US" dirty="0" smtClean="0"/>
              <a:t>.</a:t>
            </a:r>
          </a:p>
          <a:p>
            <a:r>
              <a:rPr lang="en-US" b="1" dirty="0"/>
              <a:t> </a:t>
            </a:r>
            <a:endParaRPr lang="en-US" b="1" dirty="0" smtClean="0"/>
          </a:p>
          <a:p>
            <a:r>
              <a:rPr lang="en-US" b="1" dirty="0" smtClean="0"/>
              <a:t>P{</a:t>
            </a:r>
          </a:p>
          <a:p>
            <a:r>
              <a:rPr lang="en-US" b="1" dirty="0" smtClean="0"/>
              <a:t>Text-transform: </a:t>
            </a:r>
            <a:r>
              <a:rPr lang="en-US" b="1" dirty="0" smtClean="0">
                <a:solidFill>
                  <a:srgbClr val="FF0000"/>
                </a:solidFill>
              </a:rPr>
              <a:t>Uppercase</a:t>
            </a:r>
            <a:r>
              <a:rPr lang="en-US" b="1" dirty="0" smtClean="0"/>
              <a:t>                   All letters are capital..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:</a:t>
            </a:r>
            <a:r>
              <a:rPr lang="en-US" b="1" dirty="0" smtClean="0">
                <a:solidFill>
                  <a:srgbClr val="FF0000"/>
                </a:solidFill>
              </a:rPr>
              <a:t>Lowercase                  </a:t>
            </a:r>
            <a:r>
              <a:rPr lang="en-US" b="1" dirty="0" smtClean="0"/>
              <a:t>All </a:t>
            </a:r>
            <a:r>
              <a:rPr lang="en-US" b="1" dirty="0"/>
              <a:t>letters are </a:t>
            </a:r>
            <a:r>
              <a:rPr lang="en-US" b="1" dirty="0" smtClean="0"/>
              <a:t>small.. </a:t>
            </a:r>
          </a:p>
          <a:p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FF0000"/>
                </a:solidFill>
              </a:rPr>
              <a:t>                    :</a:t>
            </a:r>
            <a:r>
              <a:rPr lang="en-US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capitalize                 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only the first letter is capital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/>
              <a:t>} </a:t>
            </a:r>
            <a:endParaRPr lang="en-US" b="1" dirty="0"/>
          </a:p>
          <a:p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661683" y="2641320"/>
            <a:ext cx="922564" cy="1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624943" y="2967709"/>
            <a:ext cx="922564" cy="1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624943" y="3181864"/>
            <a:ext cx="922564" cy="1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8675" y="3690629"/>
            <a:ext cx="672737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CSS Text </a:t>
            </a:r>
            <a:r>
              <a:rPr lang="en-US" sz="2000" b="1" dirty="0" smtClean="0"/>
              <a:t>Spacing:-</a:t>
            </a:r>
          </a:p>
          <a:p>
            <a:r>
              <a:rPr lang="en-US" sz="2000" b="1" dirty="0"/>
              <a:t> </a:t>
            </a:r>
            <a:r>
              <a:rPr lang="en-US" sz="2000" dirty="0" smtClean="0"/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letter-spacing:</a:t>
            </a:r>
            <a:r>
              <a:rPr lang="en-US" sz="2000" dirty="0" smtClean="0">
                <a:solidFill>
                  <a:srgbClr val="FF0000"/>
                </a:solidFill>
              </a:rPr>
              <a:t>               </a:t>
            </a:r>
            <a:r>
              <a:rPr lang="ar-EG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المسافه بين الحروف 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  Word-spacing:                 </a:t>
            </a:r>
            <a:r>
              <a:rPr lang="ar-EG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المسافه </a:t>
            </a:r>
            <a:r>
              <a:rPr lang="ar-EG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بين </a:t>
            </a:r>
            <a:r>
              <a:rPr lang="ar-EG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الكلمات  </a:t>
            </a:r>
          </a:p>
          <a:p>
            <a:r>
              <a:rPr lang="en-US" dirty="0" smtClean="0"/>
              <a:t>    </a:t>
            </a:r>
            <a:r>
              <a:rPr lang="en-US" b="1" dirty="0" smtClean="0">
                <a:solidFill>
                  <a:srgbClr val="FF0000"/>
                </a:solidFill>
              </a:rPr>
              <a:t>Line-height</a:t>
            </a:r>
            <a:r>
              <a:rPr lang="en-US" dirty="0" smtClean="0"/>
              <a:t>:                      </a:t>
            </a:r>
            <a:r>
              <a:rPr lang="ar-EG" b="1" dirty="0" smtClean="0"/>
              <a:t>المسافه ما بين السطور</a:t>
            </a:r>
          </a:p>
          <a:p>
            <a:endParaRPr lang="en-US" b="1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702379" y="4438909"/>
            <a:ext cx="922564" cy="1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702379" y="4720178"/>
            <a:ext cx="922564" cy="1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702379" y="4993282"/>
            <a:ext cx="922564" cy="1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5774" y="5009611"/>
            <a:ext cx="57762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Text </a:t>
            </a:r>
            <a:r>
              <a:rPr lang="en-US" b="1" dirty="0" smtClean="0"/>
              <a:t>Shadow</a:t>
            </a:r>
            <a:r>
              <a:rPr lang="ar-EG" b="1" dirty="0"/>
              <a:t> </a:t>
            </a:r>
            <a:r>
              <a:rPr lang="en-US" b="1" dirty="0" smtClean="0"/>
              <a:t>:-</a:t>
            </a:r>
            <a:r>
              <a:rPr lang="en-US" dirty="0"/>
              <a:t>property adds shadow to text</a:t>
            </a:r>
            <a:r>
              <a:rPr lang="en-US" dirty="0" smtClean="0"/>
              <a:t>.</a:t>
            </a:r>
          </a:p>
          <a:p>
            <a:r>
              <a:rPr lang="en-US" dirty="0"/>
              <a:t>h1 {</a:t>
            </a:r>
            <a:br>
              <a:rPr lang="en-US" dirty="0"/>
            </a:br>
            <a:r>
              <a:rPr lang="en-US" dirty="0"/>
              <a:t>  text-shadow: 2px </a:t>
            </a:r>
            <a:r>
              <a:rPr lang="en-US" dirty="0" smtClean="0"/>
              <a:t>            </a:t>
            </a:r>
            <a:r>
              <a:rPr lang="en-US" dirty="0" err="1" smtClean="0"/>
              <a:t>2px</a:t>
            </a:r>
            <a:r>
              <a:rPr lang="en-US" dirty="0" smtClean="0"/>
              <a:t>         red;</a:t>
            </a:r>
          </a:p>
          <a:p>
            <a:r>
              <a:rPr lang="en-US" dirty="0"/>
              <a:t> </a:t>
            </a:r>
            <a:r>
              <a:rPr lang="en-US" dirty="0" smtClean="0"/>
              <a:t>         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</a:t>
            </a:r>
            <a:r>
              <a:rPr lang="en-US" b="1" dirty="0" smtClean="0">
                <a:solidFill>
                  <a:srgbClr val="FF0000"/>
                </a:solidFill>
              </a:rPr>
              <a:t>   Horizontal </a:t>
            </a:r>
            <a:r>
              <a:rPr lang="en-US" dirty="0" smtClean="0"/>
              <a:t>    </a:t>
            </a:r>
            <a:r>
              <a:rPr lang="en-US" b="1" dirty="0" smtClean="0">
                <a:solidFill>
                  <a:srgbClr val="FF0000"/>
                </a:solidFill>
              </a:rPr>
              <a:t>Vertical</a:t>
            </a:r>
            <a:r>
              <a:rPr lang="en-US" dirty="0" smtClean="0"/>
              <a:t>     </a:t>
            </a:r>
            <a:r>
              <a:rPr lang="en-US" b="1" dirty="0" smtClean="0">
                <a:solidFill>
                  <a:srgbClr val="FF0000"/>
                </a:solidFill>
              </a:rPr>
              <a:t>color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}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b="1" dirty="0"/>
          </a:p>
          <a:p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188029" y="5886929"/>
            <a:ext cx="0" cy="326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373890" y="5886928"/>
            <a:ext cx="0" cy="326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276043" y="5886928"/>
            <a:ext cx="0" cy="326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118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>
            <a:off x="3633107" y="318406"/>
            <a:ext cx="824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6343648" y="326570"/>
            <a:ext cx="775607" cy="16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18906" y="87574"/>
            <a:ext cx="2114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Css Fonts 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51163" y="881743"/>
            <a:ext cx="778056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What is the importance of Fonts?</a:t>
            </a:r>
          </a:p>
          <a:p>
            <a:r>
              <a:rPr lang="en-US" dirty="0" smtClean="0"/>
              <a:t>:-</a:t>
            </a:r>
            <a:r>
              <a:rPr lang="en-US" b="1" dirty="0" smtClean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font adds value to your </a:t>
            </a:r>
            <a:r>
              <a:rPr lang="en-US" b="1" dirty="0" smtClean="0">
                <a:solidFill>
                  <a:srgbClr val="FF0000"/>
                </a:solidFill>
              </a:rPr>
              <a:t>text.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It is also important to choose the correct color and text size for the font.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1355" y="2005363"/>
            <a:ext cx="2286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Types of Font Family:-</a:t>
            </a:r>
          </a:p>
          <a:p>
            <a:endParaRPr lang="en-US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989" y="2074584"/>
            <a:ext cx="3419266" cy="12032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4348" y="3305690"/>
            <a:ext cx="5829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Font-style:- </a:t>
            </a:r>
            <a:r>
              <a:rPr lang="en-US" dirty="0"/>
              <a:t>is mostly used to specify </a:t>
            </a:r>
            <a:r>
              <a:rPr lang="en-US" dirty="0" smtClean="0"/>
              <a:t>shape of </a:t>
            </a:r>
            <a:r>
              <a:rPr lang="en-US" dirty="0"/>
              <a:t>text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Ex:-</a:t>
            </a:r>
          </a:p>
          <a:p>
            <a:r>
              <a:rPr lang="en-US" b="1" dirty="0" smtClean="0"/>
              <a:t>P{</a:t>
            </a:r>
          </a:p>
          <a:p>
            <a:r>
              <a:rPr lang="en-US" b="1" dirty="0" smtClean="0"/>
              <a:t>Font-style: Normal;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: italic; </a:t>
            </a:r>
          </a:p>
          <a:p>
            <a:r>
              <a:rPr lang="en-US" b="1" dirty="0" smtClean="0"/>
              <a:t>}</a:t>
            </a:r>
          </a:p>
          <a:p>
            <a:r>
              <a:rPr lang="en-US" b="1" dirty="0" smtClean="0"/>
              <a:t> </a:t>
            </a:r>
          </a:p>
          <a:p>
            <a:r>
              <a:rPr lang="en-US" b="1" dirty="0"/>
              <a:t>Font </a:t>
            </a:r>
            <a:r>
              <a:rPr lang="en-US" b="1" dirty="0" smtClean="0"/>
              <a:t>Size :-</a:t>
            </a:r>
            <a:r>
              <a:rPr lang="en-US" dirty="0"/>
              <a:t>property sets the size of the text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Ex :- Font-size: 35px; or </a:t>
            </a:r>
            <a:r>
              <a:rPr lang="en-US" b="1" dirty="0"/>
              <a:t>2.5em</a:t>
            </a:r>
            <a:r>
              <a:rPr lang="en-US" b="1" dirty="0" smtClean="0"/>
              <a:t>;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9161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23014" y="106135"/>
            <a:ext cx="1869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Size Units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77936" y="979715"/>
            <a:ext cx="1289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Px</a:t>
            </a:r>
            <a:endParaRPr lang="en-US" sz="2000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894364" y="473529"/>
            <a:ext cx="914401" cy="706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19206" y="979715"/>
            <a:ext cx="824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em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074229" y="473529"/>
            <a:ext cx="889907" cy="628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0630" y="1477736"/>
            <a:ext cx="2563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Note:-   </a:t>
            </a:r>
            <a:r>
              <a:rPr lang="en-US" b="1" dirty="0">
                <a:solidFill>
                  <a:srgbClr val="FF0000"/>
                </a:solidFill>
              </a:rPr>
              <a:t>1em=16px</a:t>
            </a:r>
          </a:p>
          <a:p>
            <a:endParaRPr lang="en-US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49024" y="2001604"/>
            <a:ext cx="4690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 HTML, </a:t>
            </a:r>
            <a:r>
              <a:rPr lang="en-US" dirty="0"/>
              <a:t>there are two main types of lists</a:t>
            </a:r>
            <a:r>
              <a:rPr lang="en-US" dirty="0" smtClean="0"/>
              <a:t>: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Ol ,ul                              </a:t>
            </a:r>
          </a:p>
          <a:p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49024" y="2647935"/>
            <a:ext cx="5274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UL</a:t>
            </a:r>
            <a:r>
              <a:rPr lang="en-US" dirty="0" smtClean="0"/>
              <a:t> : </a:t>
            </a:r>
            <a:r>
              <a:rPr lang="en-US" b="1" dirty="0" smtClean="0">
                <a:solidFill>
                  <a:srgbClr val="FF0000"/>
                </a:solidFill>
              </a:rPr>
              <a:t>show As bullets ,but we can change it using css </a:t>
            </a:r>
          </a:p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List-style-type:</a:t>
            </a:r>
            <a:r>
              <a:rPr lang="en-US" b="1" dirty="0" smtClean="0">
                <a:solidFill>
                  <a:srgbClr val="FF0000"/>
                </a:solidFill>
              </a:rPr>
              <a:t> circle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or </a:t>
            </a:r>
            <a:r>
              <a:rPr lang="en-US" b="1" dirty="0" smtClean="0">
                <a:solidFill>
                  <a:srgbClr val="FF0000"/>
                </a:solidFill>
              </a:rPr>
              <a:t>square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FF0000"/>
                </a:solidFill>
              </a:rPr>
              <a:t>None</a:t>
            </a:r>
            <a:r>
              <a:rPr lang="en-US" dirty="0" smtClean="0"/>
              <a:t>,…………..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9138" y="2924934"/>
            <a:ext cx="39719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Tables:-</a:t>
            </a:r>
          </a:p>
          <a:p>
            <a:r>
              <a:rPr lang="en-US" dirty="0" smtClean="0"/>
              <a:t>Table,th,td{</a:t>
            </a:r>
          </a:p>
          <a:p>
            <a:r>
              <a:rPr lang="en-US" b="1" dirty="0">
                <a:solidFill>
                  <a:srgbClr val="FF0000"/>
                </a:solidFill>
              </a:rPr>
              <a:t>border</a:t>
            </a:r>
            <a:r>
              <a:rPr lang="en-US" dirty="0"/>
              <a:t>: </a:t>
            </a:r>
            <a:r>
              <a:rPr lang="en-US" b="1" dirty="0"/>
              <a:t>1px solid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 smtClean="0"/>
              <a:t>}</a:t>
            </a:r>
          </a:p>
          <a:p>
            <a:r>
              <a:rPr lang="en-US" dirty="0"/>
              <a:t>t</a:t>
            </a:r>
            <a:r>
              <a:rPr lang="en-US" dirty="0" smtClean="0"/>
              <a:t>able{</a:t>
            </a:r>
          </a:p>
          <a:p>
            <a:r>
              <a:rPr lang="en-US" dirty="0" smtClean="0"/>
              <a:t>Width:100%;</a:t>
            </a:r>
            <a:endParaRPr lang="en-US" dirty="0"/>
          </a:p>
          <a:p>
            <a:r>
              <a:rPr lang="en-US" dirty="0" smtClean="0"/>
              <a:t>}</a:t>
            </a:r>
          </a:p>
          <a:p>
            <a:r>
              <a:rPr lang="en-US" dirty="0"/>
              <a:t>t</a:t>
            </a:r>
            <a:r>
              <a:rPr lang="en-US" dirty="0" smtClean="0"/>
              <a:t>d{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Text-align</a:t>
            </a:r>
            <a:r>
              <a:rPr lang="en-US" dirty="0" smtClean="0"/>
              <a:t>: center;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/>
              <a:t>t</a:t>
            </a:r>
            <a:r>
              <a:rPr lang="en-US" dirty="0" err="1" smtClean="0"/>
              <a:t>h,td</a:t>
            </a:r>
            <a:r>
              <a:rPr lang="en-US" dirty="0" smtClean="0"/>
              <a:t>{</a:t>
            </a:r>
          </a:p>
          <a:p>
            <a:r>
              <a:rPr lang="en-US" dirty="0"/>
              <a:t>padding: 15px</a:t>
            </a:r>
            <a:r>
              <a:rPr lang="en-US" dirty="0" smtClean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4140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>
            <a:off x="4106636" y="351064"/>
            <a:ext cx="857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6768193" y="351064"/>
            <a:ext cx="9470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70021" y="151009"/>
            <a:ext cx="1330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position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57250" y="816429"/>
            <a:ext cx="10107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Position:-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specifies the type of positioning method used for an element</a:t>
            </a:r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3193" y="1567543"/>
            <a:ext cx="857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Positions-types:- </a:t>
            </a:r>
            <a:r>
              <a:rPr lang="en-US" dirty="0"/>
              <a:t>static</a:t>
            </a:r>
            <a:r>
              <a:rPr lang="en-US" dirty="0" smtClean="0"/>
              <a:t>; , </a:t>
            </a:r>
            <a:r>
              <a:rPr lang="en-US" dirty="0"/>
              <a:t>relative</a:t>
            </a:r>
            <a:r>
              <a:rPr lang="en-US" dirty="0" smtClean="0"/>
              <a:t>; , fixed,</a:t>
            </a:r>
            <a:r>
              <a:rPr lang="en-US" dirty="0"/>
              <a:t> absolute;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31421" y="4065636"/>
            <a:ext cx="8066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What is deference between  margin and position ?</a:t>
            </a:r>
          </a:p>
          <a:p>
            <a:endParaRPr lang="en-US" dirty="0" smtClean="0"/>
          </a:p>
          <a:p>
            <a:r>
              <a:rPr lang="en-US" dirty="0" smtClean="0"/>
              <a:t>Marign :- Move all elements together ,but position move the selected element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3192" y="1903158"/>
            <a:ext cx="11138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Position</a:t>
            </a:r>
            <a:r>
              <a:rPr lang="en-US" dirty="0" smtClean="0"/>
              <a:t>         :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static</a:t>
            </a:r>
            <a:r>
              <a:rPr lang="en-US" dirty="0" smtClean="0"/>
              <a:t>         default position of element ,   </a:t>
            </a:r>
            <a:r>
              <a:rPr lang="en-US" dirty="0" err="1" smtClean="0"/>
              <a:t>top,bottom</a:t>
            </a:r>
            <a:r>
              <a:rPr lang="en-US" dirty="0" smtClean="0"/>
              <a:t>, </a:t>
            </a:r>
            <a:r>
              <a:rPr lang="ar-EG" dirty="0" smtClean="0"/>
              <a:t>        المكان الأصلي للعنصر والمكان ده ثابت مهما خد</a:t>
            </a:r>
            <a:r>
              <a:rPr lang="en-US" dirty="0" smtClean="0"/>
              <a:t> </a:t>
            </a:r>
            <a:r>
              <a:rPr lang="ar-EG" dirty="0" smtClean="0"/>
              <a:t> </a:t>
            </a:r>
            <a:r>
              <a:rPr lang="en-US" dirty="0" smtClean="0"/>
              <a:t>             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932214" y="2121541"/>
            <a:ext cx="451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3192" y="2356187"/>
            <a:ext cx="10082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Position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relative</a:t>
            </a:r>
            <a:r>
              <a:rPr lang="en-US" dirty="0" smtClean="0"/>
              <a:t>        </a:t>
            </a:r>
            <a:r>
              <a:rPr lang="ar-EG" dirty="0" smtClean="0"/>
              <a:t>العنصر يتحرك بناء علي نفسه ,يعني لو حركته يمين فا هو تحرك بالنسبه لنفسه فقط محركش حاجه معاه </a:t>
            </a:r>
            <a:r>
              <a:rPr lang="en-US" dirty="0" smtClean="0"/>
              <a:t>  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713264" y="2556241"/>
            <a:ext cx="451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1421" y="2925573"/>
            <a:ext cx="10934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Position</a:t>
            </a:r>
            <a:r>
              <a:rPr lang="en-US" dirty="0" smtClean="0"/>
              <a:t>:- absolute       10px left or tight the body                                         </a:t>
            </a:r>
            <a:r>
              <a:rPr lang="ar-EG" dirty="0" smtClean="0"/>
              <a:t>يتحرك بناء علي الصفحه (كأن العنصر اختفي)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31421" y="3399689"/>
            <a:ext cx="1059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Position</a:t>
            </a:r>
            <a:r>
              <a:rPr lang="en-US" dirty="0" smtClean="0"/>
              <a:t>: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fixed        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fixed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 at specific top or right or bottm or left    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631621" y="3591842"/>
            <a:ext cx="451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6692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>
            <a:off x="3763736" y="359228"/>
            <a:ext cx="1036864" cy="8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6849836" y="351063"/>
            <a:ext cx="751114" cy="8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800600" y="136559"/>
            <a:ext cx="2049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CSS 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692" y="812728"/>
            <a:ext cx="95522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/>
              <a:t>Overflow</a:t>
            </a:r>
            <a:r>
              <a:rPr lang="en-US" dirty="0" smtClean="0"/>
              <a:t>:-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property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controls what happens to content that is too big to fit into an area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The overflow property </a:t>
            </a:r>
            <a:r>
              <a:rPr lang="en-US" dirty="0" smtClean="0"/>
              <a:t>has </a:t>
            </a:r>
            <a:r>
              <a:rPr lang="en-US" dirty="0"/>
              <a:t>the following values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visible</a:t>
            </a:r>
            <a:r>
              <a:rPr lang="en-US" dirty="0" smtClean="0"/>
              <a:t> ,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hidden</a:t>
            </a:r>
            <a:r>
              <a:rPr lang="en-US" dirty="0" smtClean="0"/>
              <a:t> ,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scroll</a:t>
            </a:r>
            <a:r>
              <a:rPr lang="en-US" dirty="0" smtClean="0"/>
              <a:t> ,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auto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Visible :- </a:t>
            </a:r>
            <a:r>
              <a:rPr lang="en-US" dirty="0"/>
              <a:t>Default. The overflow is not clipped. The content renders outside the element's </a:t>
            </a:r>
            <a:r>
              <a:rPr lang="en-US" dirty="0" smtClean="0"/>
              <a:t>box.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/>
              <a:t>Hidden:- </a:t>
            </a:r>
            <a:r>
              <a:rPr lang="en-US" dirty="0"/>
              <a:t>The overflow is clipped, and the rest of the content will be </a:t>
            </a:r>
            <a:r>
              <a:rPr lang="en-US" dirty="0" smtClean="0"/>
              <a:t>invisible.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/>
              <a:t>Scroll:-</a:t>
            </a:r>
            <a:r>
              <a:rPr lang="en-US" dirty="0"/>
              <a:t>The overflow is clipped, and a scrollbar is added to see the rest of the </a:t>
            </a:r>
            <a:r>
              <a:rPr lang="en-US" dirty="0" smtClean="0"/>
              <a:t>content.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smtClean="0">
                <a:solidFill>
                  <a:schemeClr val="accent5">
                    <a:lumMod val="75000"/>
                  </a:schemeClr>
                </a:solidFill>
              </a:rPr>
              <a:t>Auto:- </a:t>
            </a:r>
            <a:r>
              <a:rPr lang="en-US"/>
              <a:t>Similar </a:t>
            </a:r>
            <a:r>
              <a:rPr lang="en-US" smtClean="0"/>
              <a:t>to scroll </a:t>
            </a:r>
            <a:r>
              <a:rPr lang="en-US"/>
              <a:t>, but it adds scrollbars only </a:t>
            </a:r>
            <a:r>
              <a:rPr lang="en-US"/>
              <a:t>when </a:t>
            </a:r>
            <a:r>
              <a:rPr lang="en-US" smtClean="0"/>
              <a:t>necessary.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189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6636" y="2383972"/>
            <a:ext cx="4220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/>
              <a:t>Thank you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2089251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609EDA-869E-4BE5-AE5D-B898C584B6FF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0</TotalTime>
  <Words>1381</Words>
  <Application>Microsoft Office PowerPoint</Application>
  <PresentationFormat>Widescreen</PresentationFormat>
  <Paragraphs>307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 Gothic</vt:lpstr>
      <vt:lpstr>Segoe UI</vt:lpstr>
      <vt:lpstr>Segoe UI Light</vt:lpstr>
      <vt:lpstr>Wingdings</vt:lpstr>
      <vt:lpstr>Office Theme</vt:lpstr>
      <vt:lpstr>Welcome To css</vt:lpstr>
      <vt:lpstr>Project analysis slide 2</vt:lpstr>
      <vt:lpstr>Project analysis slide 3</vt:lpstr>
      <vt:lpstr>Project analysis slide 4</vt:lpstr>
      <vt:lpstr>Project analysis slide 5</vt:lpstr>
      <vt:lpstr>Project analysis slide 6</vt:lpstr>
      <vt:lpstr>Project analysis slide 6</vt:lpstr>
      <vt:lpstr>Project analysis slide 6</vt:lpstr>
      <vt:lpstr>Project analysis slide 6</vt:lpstr>
      <vt:lpstr>Project analysis slide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2023-01-28T17:24:28Z</dcterms:created>
  <dcterms:modified xsi:type="dcterms:W3CDTF">2023-01-30T23:19:35Z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